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we built an AI product workflow that turns raw marketplace data into insights and a deployable late-delivery risk model, with two AI agent teams and automatic quality gates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62% vs 9% contrast; this is why predicting lateness at checkout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linked tables from Olist's own GitHub at a pinned commit; every file is sha256-checked.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Run-then-narrate: tested Python computes every artifact, agents inspect and explain; the Flow decides pass or fail. A failed gate stops the run and nothing is promoted.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All-orders layer for volume; delivered layer for lateness. Every number comes from eda_summary.json.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Northeast states are three to five times worse than the South and Southeast; the late rate swings from about 1% to 19% between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analysts publish a versioned contract; the scientists must follow it; the Flow verifies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information known when the customer pays; trained on earlier months, tested on later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 regression beat gradient boosting in cross-validation and on the test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fault-injection demo and the reproducibility table in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ethical considerations section aloud; it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final-llm-5 produced the committed artifacts (llm mode).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3C5FD"/>
                </a:solidFill>
              </a:rPr>
              <a:t>FINAL PROJECT  |  INDUSTRY-SIMULATED AI PRODUCT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Will this order arrive late?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Predicting late deliveries at checkout with a CrewAI Flow: a Data Analyst crew hands off to a Data Scientist 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Matanel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</a:rPr>
              <a:t>Olist Brazilian e-commerce data  |  CrewAI + Gemini, scikit-learn, Streamlit, Flask, GitHub</a:t>
            </a:r>
          </a:p>
          <a:p>
            <a:pPr algn="l"/>
            <a:r>
              <a:rPr sz="1600" b="0">
                <a:solidFill>
                  <a:srgbClr val="CBD5E1"/>
                </a:solidFill>
              </a:rPr>
              <a:t>Code: github.com/matnael332/olist-crewai-flow</a:t>
            </a:r>
          </a:p>
          <a:p>
            <a:pPr algn="l"/>
            <a:r>
              <a:rPr sz="1600" b="0">
                <a:solidFill>
                  <a:srgbClr val="CBD5E1"/>
                </a:solidFill>
              </a:rPr>
              <a:t>Live dashboard: olist-late-delivery-1.streamlit.app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THE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Late deliveries destroy customer 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64207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C2626"/>
                </a:solidFill>
              </a:rPr>
              <a:t>62.4%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6771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LATE orders get a 1-2 star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8152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9.2%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85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ON-TIME orders get a 1-2 star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9884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6.8%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023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96,203 delivered orders arrived late</a:t>
            </a:r>
          </a:p>
        </p:txBody>
      </p:sp>
      <p:pic>
        <p:nvPicPr>
          <p:cNvPr id="15" name="Picture 14" descr="review_score_vs_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7498079" cy="3749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06240" y="576072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</a:rPr>
              <a:t>Goal: flag risky orders at checkout so operations can act before the customer is let down.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Real marketplace data, cleaned and versioned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Source: </a:t>
            </a:r>
            <a:r>
              <a:rPr sz="1700">
                <a:solidFill>
                  <a:srgbClr val="0F172A"/>
                </a:solidFill>
              </a:rPr>
              <a:t>Olist Brazilian E-Commerce, 9 tables (orders, items, payments, reviews, customers, products, sellers, geolocation, categories), pinned commit + sha256 manifest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Scale: </a:t>
            </a:r>
            <a:r>
              <a:rPr sz="1700">
                <a:solidFill>
                  <a:srgbClr val="0F172A"/>
                </a:solidFill>
              </a:rPr>
              <a:t>99,441 orders, 2016-09 to 2018-10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Real quality issues: </a:t>
            </a:r>
            <a:r>
              <a:rPr sz="1700">
                <a:solidFill>
                  <a:srgbClr val="0F172A"/>
                </a:solidFill>
              </a:rPr>
              <a:t>non-delivered orders, missing delivery dates, out-of-sequence timestamps, products without category, duplicate reviews, invalid payments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Result: </a:t>
            </a:r>
            <a:r>
              <a:rPr sz="1700">
                <a:solidFill>
                  <a:srgbClr val="0F172A"/>
                </a:solidFill>
              </a:rPr>
              <a:t>clean_data.csv with 96,203 delivered orders, one row per order, 38 documented columns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66560" y="155448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rows removed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R1 keep delivered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2,963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R2 require delivery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R3 purchase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rows kept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96,203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Two AI crews, one Flow, three quality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14630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9 raw tables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pinned + hashed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1737360" cy="100584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1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Data Analyst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6 agents</a:t>
            </a:r>
          </a:p>
        </p:txBody>
      </p:sp>
      <p:sp>
        <p:nvSpPr>
          <p:cNvPr id="8" name="Diamond 7"/>
          <p:cNvSpPr/>
          <p:nvPr/>
        </p:nvSpPr>
        <p:spPr>
          <a:xfrm>
            <a:off x="4389120" y="2148839"/>
            <a:ext cx="1188720" cy="91440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</a:rPr>
              <a:t>gate</a:t>
            </a:r>
          </a:p>
          <a:p>
            <a:pPr algn="ctr"/>
            <a:r>
              <a:rPr sz="900" b="0">
                <a:solidFill>
                  <a:srgbClr val="0F172A"/>
                </a:solidFill>
              </a:rPr>
              <a:t>contract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103120"/>
            <a:ext cx="164592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2 phase 1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79" y="2148839"/>
            <a:ext cx="1188720" cy="91440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</a:rPr>
              <a:t>gate</a:t>
            </a:r>
          </a:p>
          <a:p>
            <a:pPr algn="ctr"/>
            <a:r>
              <a:rPr sz="900" b="0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103120"/>
            <a:ext cx="173736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2 phase 2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models + card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2336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7784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589520" y="2606039"/>
            <a:ext cx="365759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4400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mond 16"/>
          <p:cNvSpPr/>
          <p:nvPr/>
        </p:nvSpPr>
        <p:spPr>
          <a:xfrm>
            <a:off x="9646920" y="3703320"/>
            <a:ext cx="1463040" cy="73152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F172A"/>
                </a:solidFill>
              </a:rPr>
              <a:t>gate artifacts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78440" y="3108960"/>
            <a:ext cx="0" cy="59436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60" y="3703320"/>
            <a:ext cx="2468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artifacts/ promoted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8 spec files + reports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9235440" y="4069080"/>
            <a:ext cx="41148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26080" y="3703320"/>
            <a:ext cx="3291840" cy="731520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fail_gracefully (any failed gate)</a:t>
            </a:r>
          </a:p>
          <a:p>
            <a:pPr algn="ctr"/>
            <a:r>
              <a:rPr sz="1000" b="0">
                <a:solidFill>
                  <a:srgbClr val="0F172A"/>
                </a:solidFill>
              </a:rPr>
              <a:t>status file, exit 1, nothing promoted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572000" y="3063239"/>
            <a:ext cx="411480" cy="640081"/>
          </a:xfrm>
          <a:prstGeom prst="line">
            <a:avLst/>
          </a:prstGeom>
          <a:ln w="25400">
            <a:prstDash val="dash"/>
            <a:solidFill>
              <a:srgbClr val="DC26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846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Crew 1: data engineer, documentation writer, analytics lead, insights writer, data steward, contract author.</a:t>
            </a:r>
          </a:p>
          <a:p>
            <a:pPr algn="l"/>
            <a:r>
              <a:rPr sz="1500" b="0">
                <a:solidFill>
                  <a:srgbClr val="64748B"/>
                </a:solidFill>
              </a:rPr>
              <a:t>Crew 2: feature engineer, feature reviewer, ML engineer, model reviewer, model card author. The contract version and hash travel with the handoff.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1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What happened: fast growth and a Black Friday spike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5</a:t>
            </a:r>
          </a:p>
        </p:txBody>
      </p:sp>
      <p:pic>
        <p:nvPicPr>
          <p:cNvPr id="6" name="Picture 5" descr="monthly_orders_all_vs_deliv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6766560" cy="28419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</a:rPr>
              <a:t>All 99,441 orders by purchase month, every status: 97.0% were delivered. November 2017, the Black Friday month, is the tallest bar.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5544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664207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800 to 7,544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2677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orders per month, Jan 2017 to Nov 2017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9260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303580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</a:rPr>
              <a:t>1,176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6393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orders on 2017-11-24 (next busiest day: 499)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2976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40740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10 vs 24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109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median actual vs promised delivery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1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Lateness depends on region and drifts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6</a:t>
            </a:r>
          </a:p>
        </p:txBody>
      </p:sp>
      <p:pic>
        <p:nvPicPr>
          <p:cNvPr id="6" name="Picture 5" descr="late_rate_by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538651" cy="4846320"/>
          </a:xfrm>
          <a:prstGeom prst="rect">
            <a:avLst/>
          </a:prstGeom>
        </p:spPr>
      </p:pic>
      <p:pic>
        <p:nvPicPr>
          <p:cNvPr id="7" name="Picture 6" descr="late_rate_by_mon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463040"/>
            <a:ext cx="5852160" cy="23408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02336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Worst: </a:t>
            </a:r>
            <a:r>
              <a:rPr sz="1500">
                <a:solidFill>
                  <a:srgbClr val="0F172A"/>
                </a:solidFill>
              </a:rPr>
              <a:t>AL 21.5%, MA 17.5%, PI 13.9%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Best: </a:t>
            </a:r>
            <a:r>
              <a:rPr sz="1500">
                <a:solidFill>
                  <a:srgbClr val="0F172A"/>
                </a:solidFill>
              </a:rPr>
              <a:t>MG 4.6%, SP 4.5%, PR 4.1%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Implication: </a:t>
            </a:r>
            <a:r>
              <a:rPr sz="1500">
                <a:solidFill>
                  <a:srgbClr val="0F172A"/>
                </a:solidFill>
              </a:rPr>
              <a:t>evaluate on later months, never a random split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DATA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The dataset contract is the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949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Schema: </a:t>
            </a:r>
            <a:r>
              <a:rPr sz="1600">
                <a:solidFill>
                  <a:srgbClr val="0F172A"/>
                </a:solidFill>
              </a:rPr>
              <a:t>38 columns with types, nullability, bounds and allowed values (27 states, 4 payment types, categories)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Constraints: </a:t>
            </a:r>
            <a:r>
              <a:rPr sz="1600">
                <a:solidFill>
                  <a:srgbClr val="0F172A"/>
                </a:solidFill>
              </a:rPr>
              <a:t>11 binding rules, e.g. is_late == (delivery_days &gt; promised_days), one row per order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Target: </a:t>
            </a:r>
            <a:r>
              <a:rPr sz="1600">
                <a:solidFill>
                  <a:srgbClr val="0F172A"/>
                </a:solidFill>
              </a:rPr>
              <a:t>is_late means delivered after the promised date, counted in calendar days, among delivered orders (6.8% late)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Required features: </a:t>
            </a:r>
            <a:r>
              <a:rPr sz="1600">
                <a:solidFill>
                  <a:srgbClr val="0F172A"/>
                </a:solidFill>
              </a:rPr>
              <a:t>14; forbidden post-purchase columns: 7 (no leakage)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Gate 1: </a:t>
            </a:r>
            <a:r>
              <a:rPr sz="1600">
                <a:solidFill>
                  <a:srgbClr val="0F172A"/>
                </a:solidFill>
              </a:rPr>
              <a:t>the contract matches the cleaned data (21 checks)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Gate 2: </a:t>
            </a:r>
            <a:r>
              <a:rPr sz="1600">
                <a:solidFill>
                  <a:srgbClr val="0F172A"/>
                </a:solidFill>
              </a:rPr>
              <a:t>every required feature exists before modeling (13 checks)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45920"/>
            <a:ext cx="3931920" cy="2011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HANDOFF analyst-&gt;scientist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contract_version=1.0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contract_sha256=e881be9f2bb0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rows=96203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required=14 forbidden=7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8404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The log line every run prints when the handoff passes; the same hash is stored in the feature spec, model metadata and model card.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2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Checkout-time features, time-aware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126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Features: </a:t>
            </a:r>
            <a:r>
              <a:rPr sz="1700">
                <a:solidFill>
                  <a:srgbClr val="0F172A"/>
                </a:solidFill>
              </a:rPr>
              <a:t>25 checkout-time features: basket, package, payment, geography (states, distance), promise and timing, category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Candidates: </a:t>
            </a:r>
            <a:r>
              <a:rPr sz="1700">
                <a:solidFill>
                  <a:srgbClr val="0F172A"/>
                </a:solidFill>
              </a:rPr>
              <a:t>prior baseline, logistic regression, histogram gradient boosting (sklearn pipelines, seed 42)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Selection: </a:t>
            </a:r>
            <a:r>
              <a:rPr sz="1700">
                <a:solidFill>
                  <a:srgbClr val="0F172A"/>
                </a:solidFill>
              </a:rPr>
              <a:t>time-series cross-validation on the train window, PR-AUC (imbalanced target)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Threshold: </a:t>
            </a:r>
            <a:r>
              <a:rPr sz="1700">
                <a:solidFill>
                  <a:srgbClr val="0F172A"/>
                </a:solidFill>
              </a:rPr>
              <a:t>tuned on out-of-fold predictions only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Leakage guard: </a:t>
            </a:r>
            <a:r>
              <a:rPr sz="1700">
                <a:solidFill>
                  <a:srgbClr val="0F172A"/>
                </a:solidFill>
              </a:rPr>
              <a:t>7 post-purchase columns are forbidden; the features gate fails the run if one appears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12280" y="1645920"/>
          <a:ext cx="4983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057400"/>
                <a:gridCol w="749808"/>
                <a:gridCol w="89611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purchase dates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orders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late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2017-01-01 to 2018-04-30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70,851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2018-05-01 to 2018-07-31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19,001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censored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2018-08-01 to 2018-08-31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6,351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12280" y="342900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August 2018 is held out as a censored buffer: the snapshot ends in mid-October 2018, so very late August orders may not have arrived yet.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The simpler model wins: 3x better than chance at the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6583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51560"/>
                <a:gridCol w="1143000"/>
                <a:gridCol w="1051560"/>
                <a:gridCol w="123444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CV PR-AUC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PR-AUC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precision, top 10%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baseline 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hist gradient 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0.180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0.733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0.102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12.1%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498847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356616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12.1%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793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late among the riskiest 10% (3.2x the 3.8% base rate)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3566160"/>
            <a:ext cx="310896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3675887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0.733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27939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test ROC-AUC (baseline 0.500)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Strongest signals: promised_days, customer_state, same_state, distance_km.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Engineered like a product: gates, failure,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Gates: </a:t>
            </a:r>
            <a:r>
              <a:rPr sz="1500">
                <a:solidFill>
                  <a:srgbClr val="0F172A"/>
                </a:solidFill>
              </a:rPr>
              <a:t>contract (21 checks), required features (13), artifacts (9); every check is logged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Graceful failure: </a:t>
            </a:r>
            <a:r>
              <a:rPr sz="1500">
                <a:solidFill>
                  <a:srgbClr val="0F172A"/>
                </a:solidFill>
              </a:rPr>
              <a:t>7 injectable faults; a failed gate writes run_status.json, exits 1 and promotes nothing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Reproducible: </a:t>
            </a:r>
            <a:r>
              <a:rPr sz="1500">
                <a:solidFill>
                  <a:srgbClr val="0F172A"/>
                </a:solidFill>
              </a:rPr>
              <a:t>two fresh runs with different hash seeds give byte-identical data; the LLM run differs only in prose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Observable: </a:t>
            </a:r>
            <a:r>
              <a:rPr sz="1500">
                <a:solidFill>
                  <a:srgbClr val="0F172A"/>
                </a:solidFill>
              </a:rPr>
              <a:t>pipeline.log records stages, gates, the handoff, crews, tools and every LLM call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Team workflow: </a:t>
            </a:r>
            <a:r>
              <a:rPr sz="1500">
                <a:solidFill>
                  <a:srgbClr val="0F172A"/>
                </a:solidFill>
              </a:rPr>
              <a:t>one pull request per milestone, protected main, CI on every PR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532120" cy="40233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200">
                <a:solidFill>
                  <a:srgbClr val="93C5FD"/>
                </a:solidFill>
                <a:latin typeface="Consolas"/>
              </a:rPr>
              <a:t>$ olist_flow.run --no-llm --inject-fault missing_feature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FAULT INJECTED missing_feature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GATE gate_required_features required_features_present FAIL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GATE gate_required_features RESULT FAIL (11/13 checks)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RUN demo-fault FAILED at gate_required_features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run demo-fault: failed (exit 1), nothing promoted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3C5FD"/>
                </a:solidFill>
                <a:latin typeface="Consolas"/>
              </a:rPr>
              <a:t>$ olist_flow.run verify-repro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clean_data.csv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features.csv  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metrics.json  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predictions_test.csv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figures/*.png         same machine    11/11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ALL DETERMINISTIC ARTIFACTS IDENTICAL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MODEL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Responsible use: model card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Purpose: </a:t>
            </a:r>
            <a:r>
              <a:rPr sz="1500">
                <a:solidFill>
                  <a:srgbClr val="0F172A"/>
                </a:solidFill>
              </a:rPr>
              <a:t>prioritize risky orders for proactive action, never deny service or penalize customers or sellers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Limitations: </a:t>
            </a:r>
            <a:r>
              <a:rPr sz="1500">
                <a:solidFill>
                  <a:srgbClr val="0F172A"/>
                </a:solidFill>
              </a:rPr>
              <a:t>delivered orders only; right-censoring; the late rate drifts, so the threshold must be re-tuned; 2017-2018 data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Regional bias: </a:t>
            </a:r>
            <a:r>
              <a:rPr sz="1500">
                <a:solidFill>
                  <a:srgbClr val="0F172A"/>
                </a:solidFill>
              </a:rPr>
              <a:t>North and Northeast customers face more delays; interventions must improve their service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Privacy: </a:t>
            </a:r>
            <a:r>
              <a:rPr sz="1500">
                <a:solidFill>
                  <a:srgbClr val="0F172A"/>
                </a:solidFill>
              </a:rPr>
              <a:t>pseudonymous ids; zip prefix plus timestamps are quasi-identifiers, so dashboards show aggregates only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License: </a:t>
            </a:r>
            <a:r>
              <a:rPr sz="1500">
                <a:solidFill>
                  <a:srgbClr val="0F172A"/>
                </a:solidFill>
              </a:rPr>
              <a:t>Olist data for non-commercial use (CC BY-NC-SA 4.0 listing); review text is never used</a:t>
            </a:r>
          </a:p>
        </p:txBody>
      </p:sp>
      <p:pic>
        <p:nvPicPr>
          <p:cNvPr id="7" name="Picture 6" descr="feature_importance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17320"/>
            <a:ext cx="5212080" cy="37229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0840" y="5257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The score leans on the promise length and on geography, so regional fairness is part of monitoring.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DEPLOYMENT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From notebook to product,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Dashboard: </a:t>
            </a:r>
            <a:r>
              <a:rPr sz="1500">
                <a:solidFill>
                  <a:srgbClr val="0F172A"/>
                </a:solidFill>
              </a:rPr>
              <a:t>Streamlit app over the committed artifacts: overview, data and contract, EDA, model, predict, runs and logs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API: </a:t>
            </a:r>
            <a:r>
              <a:rPr sz="1500">
                <a:solidFill>
                  <a:srgbClr val="0F172A"/>
                </a:solidFill>
              </a:rPr>
              <a:t>Flask /predict validates each order against the contract and returns the late probability and a top-10% risk flag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Run it: </a:t>
            </a:r>
            <a:r>
              <a:rPr sz="1500">
                <a:solidFill>
                  <a:srgbClr val="0F172A"/>
                </a:solidFill>
              </a:rPr>
              <a:t>uv run kickoff (Gemini) or the --no-llm deterministic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seller history features (past late rate, as of purchase time)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delivery-days regression to set better promises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monthly retraining with drift and calibration monitoring by state</a:t>
            </a:r>
          </a:p>
        </p:txBody>
      </p:sp>
      <p:pic>
        <p:nvPicPr>
          <p:cNvPr id="8" name="Picture 7" descr="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5577840" cy="348615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63640" y="502920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Live: olist-late-delivery-1.streamlit.app</a:t>
            </a:r>
          </a:p>
          <a:p>
            <a:pPr algn="l"/>
            <a:r>
              <a:rPr sz="1200" b="0">
                <a:solidFill>
                  <a:srgbClr val="64748B"/>
                </a:solidFill>
              </a:rPr>
              <a:t>Overview page, run final-llm-5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